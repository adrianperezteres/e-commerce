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7" r:id="rId4"/>
    <p:sldId id="2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3352E-A861-F87A-06D4-81420D59D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3EE5E4-4876-4844-9421-70CFC0C2A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0887-8F67-D652-F46B-55DF7C7E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E9994-83D4-413F-8D7A-C117FED25A9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1B54F-DD80-CE41-C593-C418F46E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1F07E-F1BC-D2F8-4BFF-352FBD8D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9A6A-F7FA-4407-9DE4-1EE0E56B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81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FACA2-EF02-3526-F937-93B3E52C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EDDEF-11D7-03E3-C885-B1CE9A5DF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1DEB5-C4BA-B99F-4139-DDC219E88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E9994-83D4-413F-8D7A-C117FED25A9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AD230-CA7E-B3E9-5534-5005681C0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8E189-873C-05AB-AB77-E74A4619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9A6A-F7FA-4407-9DE4-1EE0E56B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2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71236-7611-F7FD-97DC-7F8BF23F9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53326-9AB8-CBF9-016C-859A93894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B30C2-980C-E04C-ABE5-37E4EB103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E9994-83D4-413F-8D7A-C117FED25A9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1BB19-ADAB-1DA2-A0DA-D67B3D73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B6A46-E451-F80F-5165-2DB56793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9A6A-F7FA-4407-9DE4-1EE0E56B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900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BC57B-B4B0-4321-E9FA-5DE11610A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A5B0A-9636-4272-9862-579B0F0027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10121-35BF-F3CE-EC92-68265A80C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D4043-7B2C-6884-90FB-C281B21D7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E9994-83D4-413F-8D7A-C117FED25A9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F7399-E3CA-2FE8-2284-11CFFA65C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19D7E-BC37-97BB-30B8-6ACC56F12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9A6A-F7FA-4407-9DE4-1EE0E56B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5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CD706-3B18-9E8F-676A-C5447F40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27885-AC6F-077F-DD36-7C629D4DC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ECBBE-C8DC-B49F-639B-DEC76D408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60FD41-3C7A-ABA4-7DDE-7E5D7C432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1A105-7F61-611D-1D12-3ED4B1CDE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4F1856-B823-106B-A4FF-534DD64DC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E9994-83D4-413F-8D7A-C117FED25A9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B6BE17-C7B8-2C93-CB09-84FCDF01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CFEEB-ED48-883A-1FCD-03DD81228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9A6A-F7FA-4407-9DE4-1EE0E56B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88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355E0-5513-BD38-5F55-C4814456B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6ED91-606A-C5B7-7798-43893CA3B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E9994-83D4-413F-8D7A-C117FED25A9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E9315-B1DE-FA4B-89E7-606A794B1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C9358-870A-B0E4-FCE3-3556CC0BF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9A6A-F7FA-4407-9DE4-1EE0E56B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32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8E205F-40CA-E8C6-B784-74734F74F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E9994-83D4-413F-8D7A-C117FED25A9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4857C-C301-4330-1088-2DF0CD446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F9F1D-A598-2695-55F6-6CDFF4E0D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9A6A-F7FA-4407-9DE4-1EE0E56B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69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E7A89-EAB5-002D-2571-648D89D7A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51AE3-D839-BA6E-4380-8D28E6D4A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4540F-91A6-4BD7-8D6D-5CF96B0C4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C4ED8-A91E-F10E-85CC-B5571CA53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E9994-83D4-413F-8D7A-C117FED25A9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E2E0C-04C1-9038-52AB-9BDBB79F3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BD75F-7AC8-F1F1-5C09-24BE2592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9A6A-F7FA-4407-9DE4-1EE0E56B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38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68042-88F0-C5D5-010E-A6CD7B76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AB8B06-F73E-02EF-7CEA-334D2B86B1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CD364-AA18-3FB2-BB26-0E27122D7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FF6AD-E055-B892-1132-4A2A60B56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E9994-83D4-413F-8D7A-C117FED25A9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7D4D4-629C-EF6F-5CC3-BA09311C9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2C6C3-59C6-36BD-676A-538A62B6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9A6A-F7FA-4407-9DE4-1EE0E56B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67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2A2D-83FA-28A4-DF16-11C663A60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6AB14-33D2-001C-93DA-29ADADCEF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88D9A-D70C-DFBA-5E15-5AAC70E04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E9994-83D4-413F-8D7A-C117FED25A9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C6A25-AE22-7FA7-6162-F8E52A47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0DA9A-E426-31D5-2A5F-7E522B8F2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9A6A-F7FA-4407-9DE4-1EE0E56B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30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E220C1-B98A-6DC7-A738-D4C89CA54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6F768F-72AF-A390-814D-57602E8A6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40F21-9962-7368-6CF7-6CC0D1B31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E9994-83D4-413F-8D7A-C117FED25A9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79D40-3F74-80D0-F0B2-8FC9EF96A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DB401-C0BB-F848-F662-3DC6AEE5E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9A6A-F7FA-4407-9DE4-1EE0E56B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78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DCD6E-B20F-B55B-79C6-2CF91337C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4BA8A-C2BA-5FA4-4638-8075BA023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69249-4798-E8FD-1A49-F23766CD37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E9994-83D4-413F-8D7A-C117FED25A9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AAABC-228C-D9F7-95EF-BCC53BB5E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FF48C-9678-0DEC-7267-3E5D898F3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BA9A6A-F7FA-4407-9DE4-1EE0E56B1D29}" type="slidenum">
              <a:rPr lang="en-US" smtClean="0"/>
              <a:t>‹#›</a:t>
            </a:fld>
            <a:endParaRPr lang="en-US"/>
          </a:p>
        </p:txBody>
      </p:sp>
      <p:grpSp>
        <p:nvGrpSpPr>
          <p:cNvPr id="900" name="Brand Marks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01" name="Left Accent Bar"/>
            <p:cNvSpPr/>
            <p:nvPr/>
          </p:nvSpPr>
          <p:spPr>
            <a:xfrm>
              <a:off x="0" y="0"/>
              <a:ext cx="82550" cy="6858000"/>
            </a:xfrm>
            <a:prstGeom prst="rect">
              <a:avLst/>
            </a:prstGeom>
            <a:solidFill>
              <a:srgbClr val="0B5FA5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2" name="Bottom Hairline"/>
            <p:cNvSpPr/>
            <p:nvPr/>
          </p:nvSpPr>
          <p:spPr>
            <a:xfrm>
              <a:off x="82550" y="6743700"/>
              <a:ext cx="12109450" cy="12700"/>
            </a:xfrm>
            <a:prstGeom prst="rect">
              <a:avLst/>
            </a:prstGeom>
            <a:solidFill>
              <a:srgbClr val="D8DEE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3488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6202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C3E5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C3E5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C3E5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C3E5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C3E5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C3E5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C3E5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C3E5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C3E5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0863B-129B-5437-7D51-4CB93EF6F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1000" y="2095500"/>
            <a:ext cx="8890000" cy="1778000"/>
          </a:xfrm>
        </p:spPr>
        <p:txBody>
          <a:bodyPr/>
          <a:lstStyle/>
          <a:p>
            <a:pPr algn="ctr">
              <a:buNone/>
            </a:pPr>
            <a:r>
              <a:rPr lang="en-US" sz="4400" b="1" dirty="0">
                <a:solidFill>
                  <a:srgbClr val="16202B"/>
                </a:solidFill>
              </a:rPr>
              <a:t>E-Commerce Code Challenge</a:t>
            </a:r>
          </a:p>
          <a:p>
            <a:pPr algn="ctr">
              <a:buNone/>
            </a:pPr>
            <a:r>
              <a:rPr lang="en-US" sz="2400" dirty="0">
                <a:solidFill>
                  <a:srgbClr val="0B5FA5"/>
                </a:solidFill>
              </a:rPr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B7F78-E4B6-D9D3-DC88-D92036B62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8500" y="4356100"/>
            <a:ext cx="8572500" cy="1016000"/>
          </a:xfrm>
        </p:spPr>
        <p:txBody>
          <a:bodyPr/>
          <a:lstStyle/>
          <a:p>
            <a:pPr algn="ctr">
              <a:buNone/>
            </a:pPr>
            <a:r>
              <a:rPr lang="en-US" sz="1600" dirty="0">
                <a:solidFill>
                  <a:srgbClr val="5A6B7C"/>
                </a:solidFill>
              </a:rPr>
              <a:t>Architecture &amp; Stack   |   Security &amp; Threat Analysis   |   CI/CD &amp; Infrastructure as Code</a:t>
            </a:r>
          </a:p>
        </p:txBody>
      </p:sp>
      <p:sp>
        <p:nvSpPr>
          <p:cNvPr id="60" name="Title Rule"/>
          <p:cNvSpPr/>
          <p:nvPr/>
        </p:nvSpPr>
        <p:spPr>
          <a:xfrm>
            <a:off x="5461000" y="4089400"/>
            <a:ext cx="1270000" cy="50800"/>
          </a:xfrm>
          <a:prstGeom prst="rect">
            <a:avLst/>
          </a:prstGeom>
          <a:solidFill>
            <a:srgbClr val="108A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08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547CA-F965-56DA-0B6C-2DB024B9F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8890000" cy="5842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16202B"/>
                </a:solidFill>
              </a:rPr>
              <a:t>Architectural Decisions</a:t>
            </a:r>
          </a:p>
        </p:txBody>
      </p:sp>
      <p:sp>
        <p:nvSpPr>
          <p:cNvPr id="200" name="Shape 200"/>
          <p:cNvSpPr/>
          <p:nvPr/>
        </p:nvSpPr>
        <p:spPr>
          <a:xfrm>
            <a:off x="762000" y="1219200"/>
            <a:ext cx="1143000" cy="508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201"/>
          <p:cNvSpPr/>
          <p:nvPr/>
        </p:nvSpPr>
        <p:spPr>
          <a:xfrm>
            <a:off x="762000" y="1524000"/>
            <a:ext cx="5181600" cy="223520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5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2"/>
          <p:cNvSpPr/>
          <p:nvPr/>
        </p:nvSpPr>
        <p:spPr>
          <a:xfrm>
            <a:off x="762000" y="1524000"/>
            <a:ext cx="63500" cy="22352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3" name="Text 203"/>
          <p:cNvSpPr txBox="1"/>
          <p:nvPr/>
        </p:nvSpPr>
        <p:spPr>
          <a:xfrm>
            <a:off x="1092200" y="1803400"/>
            <a:ext cx="4521200" cy="172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6202B"/>
                </a:solidFill>
              </a:rPr>
              <a:t>Clojure (Full-Stack)</a:t>
            </a:r>
          </a:p>
          <a:p>
            <a:pPr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rgbClr val="3E4C5A"/>
                </a:solidFill>
              </a:rPr>
              <a:t>Gila SW’s client uses it </a:t>
            </a:r>
          </a:p>
          <a:p>
            <a:pPr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rgbClr val="3E4C5A"/>
                </a:solidFill>
              </a:rPr>
              <a:t>Opportunity for me to familiarize with the stack and embrace functional programming. </a:t>
            </a:r>
          </a:p>
          <a:p>
            <a:pPr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 err="1">
                <a:solidFill>
                  <a:srgbClr val="3E4C5A"/>
                </a:solidFill>
              </a:rPr>
              <a:t>ClojureScript</a:t>
            </a:r>
            <a:r>
              <a:rPr lang="en-US" sz="1400" dirty="0">
                <a:solidFill>
                  <a:srgbClr val="3E4C5A"/>
                </a:solidFill>
              </a:rPr>
              <a:t> on the frontend keeps one language across the codebase, with Reagent (a React wrapper) and Tailwind delivering a modern SPA experience.</a:t>
            </a:r>
          </a:p>
        </p:txBody>
      </p:sp>
      <p:sp>
        <p:nvSpPr>
          <p:cNvPr id="204" name="Shape 204"/>
          <p:cNvSpPr/>
          <p:nvPr/>
        </p:nvSpPr>
        <p:spPr>
          <a:xfrm>
            <a:off x="6248400" y="1524000"/>
            <a:ext cx="5181600" cy="223520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5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5"/>
          <p:cNvSpPr/>
          <p:nvPr/>
        </p:nvSpPr>
        <p:spPr>
          <a:xfrm>
            <a:off x="6248400" y="1524000"/>
            <a:ext cx="63500" cy="2235200"/>
          </a:xfrm>
          <a:prstGeom prst="rect">
            <a:avLst/>
          </a:prstGeom>
          <a:solidFill>
            <a:srgbClr val="108A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" name="Text 206"/>
          <p:cNvSpPr txBox="1"/>
          <p:nvPr/>
        </p:nvSpPr>
        <p:spPr>
          <a:xfrm>
            <a:off x="6578600" y="1803400"/>
            <a:ext cx="4521200" cy="172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6202B"/>
                </a:solidFill>
              </a:rPr>
              <a:t>PostgreSQL</a:t>
            </a:r>
          </a:p>
          <a:p>
            <a:pPr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rgbClr val="3E4C5A"/>
                </a:solidFill>
              </a:rPr>
              <a:t>Products and orders are by nature relational</a:t>
            </a:r>
          </a:p>
          <a:p>
            <a:pPr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rgbClr val="3E4C5A"/>
                </a:solidFill>
              </a:rPr>
              <a:t>Structured relationships, constraints, and transactional integrity makes sense. </a:t>
            </a:r>
          </a:p>
          <a:p>
            <a:pPr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rgbClr val="3E4C5A"/>
                </a:solidFill>
              </a:rPr>
              <a:t>A relational database was the natural fit over a document store.</a:t>
            </a:r>
          </a:p>
        </p:txBody>
      </p:sp>
      <p:sp>
        <p:nvSpPr>
          <p:cNvPr id="207" name="Shape 207"/>
          <p:cNvSpPr/>
          <p:nvPr/>
        </p:nvSpPr>
        <p:spPr>
          <a:xfrm>
            <a:off x="762000" y="4064000"/>
            <a:ext cx="5181600" cy="223520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5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8"/>
          <p:cNvSpPr/>
          <p:nvPr/>
        </p:nvSpPr>
        <p:spPr>
          <a:xfrm>
            <a:off x="762000" y="4064000"/>
            <a:ext cx="63500" cy="2235200"/>
          </a:xfrm>
          <a:prstGeom prst="rect">
            <a:avLst/>
          </a:prstGeom>
          <a:solidFill>
            <a:srgbClr val="3D7E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9" name="Text 209"/>
          <p:cNvSpPr txBox="1"/>
          <p:nvPr/>
        </p:nvSpPr>
        <p:spPr>
          <a:xfrm>
            <a:off x="1092200" y="4343400"/>
            <a:ext cx="4521200" cy="172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6202B"/>
                </a:solidFill>
              </a:rPr>
              <a:t>AWS</a:t>
            </a:r>
          </a:p>
          <a:p>
            <a:pPr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rgbClr val="3E4C5A"/>
                </a:solidFill>
              </a:rPr>
              <a:t>Gila’s client runs on AWS and I have hands-on experience with it — the right platform to demonstrate real-world deployment skills on familiar ground.</a:t>
            </a:r>
          </a:p>
        </p:txBody>
      </p:sp>
      <p:sp>
        <p:nvSpPr>
          <p:cNvPr id="210" name="Shape 210"/>
          <p:cNvSpPr/>
          <p:nvPr/>
        </p:nvSpPr>
        <p:spPr>
          <a:xfrm>
            <a:off x="6248400" y="4064000"/>
            <a:ext cx="5181600" cy="223520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5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11"/>
          <p:cNvSpPr/>
          <p:nvPr/>
        </p:nvSpPr>
        <p:spPr>
          <a:xfrm>
            <a:off x="6248400" y="4064000"/>
            <a:ext cx="63500" cy="22352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Text 212"/>
          <p:cNvSpPr txBox="1"/>
          <p:nvPr/>
        </p:nvSpPr>
        <p:spPr>
          <a:xfrm>
            <a:off x="6578600" y="4343400"/>
            <a:ext cx="4521200" cy="172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6202B"/>
                </a:solidFill>
              </a:rPr>
              <a:t>Babashka</a:t>
            </a:r>
          </a:p>
          <a:p>
            <a:pPr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rgbClr val="3E4C5A"/>
                </a:solidFill>
              </a:rPr>
              <a:t>Added as a task runner (bb dev, bb test) to simplify the local development workflow. </a:t>
            </a:r>
          </a:p>
          <a:p>
            <a:pPr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rgbClr val="3E4C5A"/>
                </a:solidFill>
              </a:rPr>
              <a:t>Research confirmed this is standard practice across Clojure projects.</a:t>
            </a:r>
          </a:p>
        </p:txBody>
      </p:sp>
    </p:spTree>
    <p:extLst>
      <p:ext uri="{BB962C8B-B14F-4D97-AF65-F5344CB8AC3E}">
        <p14:creationId xmlns:p14="http://schemas.microsoft.com/office/powerpoint/2010/main" val="140912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54DB5-223F-13AC-0E0D-D23E213FB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9652000" cy="5842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16202B"/>
                </a:solidFill>
              </a:rPr>
              <a:t>Security &amp; Threat Analysis</a:t>
            </a:r>
          </a:p>
        </p:txBody>
      </p:sp>
      <p:sp>
        <p:nvSpPr>
          <p:cNvPr id="300" name="Shape 300"/>
          <p:cNvSpPr/>
          <p:nvPr/>
        </p:nvSpPr>
        <p:spPr>
          <a:xfrm>
            <a:off x="762000" y="1219200"/>
            <a:ext cx="1143000" cy="508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301"/>
          <p:cNvSpPr/>
          <p:nvPr/>
        </p:nvSpPr>
        <p:spPr>
          <a:xfrm>
            <a:off x="762000" y="1524000"/>
            <a:ext cx="5969000" cy="482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5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2"/>
          <p:cNvSpPr/>
          <p:nvPr/>
        </p:nvSpPr>
        <p:spPr>
          <a:xfrm>
            <a:off x="762000" y="1524000"/>
            <a:ext cx="63500" cy="4826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Text 303"/>
          <p:cNvSpPr txBox="1"/>
          <p:nvPr/>
        </p:nvSpPr>
        <p:spPr>
          <a:xfrm>
            <a:off x="1092200" y="1803400"/>
            <a:ext cx="5308600" cy="426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6202B"/>
                </a:solidFill>
              </a:rPr>
              <a:t>CSV Import as Attack Surface</a:t>
            </a:r>
          </a:p>
          <a:p>
            <a:pPr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rgbClr val="3E4C5A"/>
                </a:solidFill>
              </a:rPr>
              <a:t>The core functionality is also the most vulnerable entry point. I identified and handled two attack types embedded in the provided CSV:</a:t>
            </a:r>
          </a:p>
          <a:p>
            <a:pPr marL="171450" indent="-171450">
              <a:lnSpc>
                <a:spcPct val="105000"/>
              </a:lnSpc>
              <a:spcBef>
                <a:spcPts val="700"/>
              </a:spcBef>
              <a:buFont typeface="Arial"/>
              <a:buChar char="–"/>
            </a:pPr>
            <a:r>
              <a:rPr lang="en-US" sz="1400" b="1" dirty="0">
                <a:solidFill>
                  <a:srgbClr val="B3261E"/>
                </a:solidFill>
              </a:rPr>
              <a:t>XSS (Cross-Site Scripting) — </a:t>
            </a:r>
            <a:r>
              <a:rPr lang="en-US" sz="1400" dirty="0">
                <a:solidFill>
                  <a:srgbClr val="3E4C5A"/>
                </a:solidFill>
              </a:rPr>
              <a:t>script tags injected as product names, stripped via regex before storage and auto-escaped by React on render.</a:t>
            </a:r>
          </a:p>
          <a:p>
            <a:pPr marL="171450" indent="-171450">
              <a:lnSpc>
                <a:spcPct val="105000"/>
              </a:lnSpc>
              <a:spcBef>
                <a:spcPts val="700"/>
              </a:spcBef>
              <a:buFont typeface="Arial"/>
              <a:buChar char="–"/>
            </a:pPr>
            <a:r>
              <a:rPr lang="en-US" sz="1400" b="1" dirty="0">
                <a:solidFill>
                  <a:srgbClr val="B3261E"/>
                </a:solidFill>
              </a:rPr>
              <a:t>SQL Injection — </a:t>
            </a:r>
            <a:r>
              <a:rPr lang="en-US" sz="1400" dirty="0">
                <a:solidFill>
                  <a:srgbClr val="3E4C5A"/>
                </a:solidFill>
              </a:rPr>
              <a:t>malicious SQL in product names, neutralized by parameterized queries that treat all input as literal data.</a:t>
            </a:r>
          </a:p>
        </p:txBody>
      </p:sp>
      <p:sp>
        <p:nvSpPr>
          <p:cNvPr id="304" name="Shape 304"/>
          <p:cNvSpPr/>
          <p:nvPr/>
        </p:nvSpPr>
        <p:spPr>
          <a:xfrm>
            <a:off x="6985000" y="1524000"/>
            <a:ext cx="4445000" cy="1524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5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5"/>
          <p:cNvSpPr/>
          <p:nvPr/>
        </p:nvSpPr>
        <p:spPr>
          <a:xfrm>
            <a:off x="6985000" y="1524000"/>
            <a:ext cx="63500" cy="15240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Text 306"/>
          <p:cNvSpPr txBox="1"/>
          <p:nvPr/>
        </p:nvSpPr>
        <p:spPr>
          <a:xfrm>
            <a:off x="7289800" y="1752600"/>
            <a:ext cx="3835400" cy="111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6202B"/>
                </a:solidFill>
              </a:rPr>
              <a:t>Beyond the Happy Path</a:t>
            </a:r>
          </a:p>
          <a:p>
            <a:pPr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rgbClr val="3E4C5A"/>
                </a:solidFill>
              </a:rPr>
              <a:t>Demonstrating the ability to review, analyze, and defend against real threats — not just validating the happy path, but covering a wider range of scenarios and outcomes.</a:t>
            </a:r>
          </a:p>
        </p:txBody>
      </p:sp>
      <p:sp>
        <p:nvSpPr>
          <p:cNvPr id="307" name="Shape 307"/>
          <p:cNvSpPr/>
          <p:nvPr/>
        </p:nvSpPr>
        <p:spPr>
          <a:xfrm>
            <a:off x="6985000" y="3175000"/>
            <a:ext cx="4445000" cy="1524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5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8"/>
          <p:cNvSpPr/>
          <p:nvPr/>
        </p:nvSpPr>
        <p:spPr>
          <a:xfrm>
            <a:off x="6985000" y="3175000"/>
            <a:ext cx="63500" cy="1524000"/>
          </a:xfrm>
          <a:prstGeom prst="rect">
            <a:avLst/>
          </a:prstGeom>
          <a:solidFill>
            <a:srgbClr val="108A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" name="Text 309"/>
          <p:cNvSpPr txBox="1"/>
          <p:nvPr/>
        </p:nvSpPr>
        <p:spPr>
          <a:xfrm>
            <a:off x="7289800" y="3403600"/>
            <a:ext cx="3835400" cy="111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6202B"/>
                </a:solidFill>
              </a:rPr>
              <a:t>Threat Reporting</a:t>
            </a:r>
          </a:p>
          <a:p>
            <a:pPr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rgbClr val="3E4C5A"/>
                </a:solidFill>
              </a:rPr>
              <a:t>A detection layer scans raw CSV values before sanitization and logs every attack. The import UI shows the thread and action taken.</a:t>
            </a:r>
          </a:p>
        </p:txBody>
      </p:sp>
      <p:sp>
        <p:nvSpPr>
          <p:cNvPr id="310" name="Shape 310"/>
          <p:cNvSpPr/>
          <p:nvPr/>
        </p:nvSpPr>
        <p:spPr>
          <a:xfrm>
            <a:off x="6985000" y="4826000"/>
            <a:ext cx="4445000" cy="1524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5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11"/>
          <p:cNvSpPr/>
          <p:nvPr/>
        </p:nvSpPr>
        <p:spPr>
          <a:xfrm>
            <a:off x="6985000" y="4826000"/>
            <a:ext cx="63500" cy="1524000"/>
          </a:xfrm>
          <a:prstGeom prst="rect">
            <a:avLst/>
          </a:prstGeom>
          <a:solidFill>
            <a:srgbClr val="3D7E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Text 312"/>
          <p:cNvSpPr txBox="1"/>
          <p:nvPr/>
        </p:nvSpPr>
        <p:spPr>
          <a:xfrm>
            <a:off x="7289800" y="5054600"/>
            <a:ext cx="3835400" cy="111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6202B"/>
                </a:solidFill>
              </a:rPr>
              <a:t>Real-World Validation</a:t>
            </a:r>
          </a:p>
          <a:p>
            <a:pPr>
              <a:lnSpc>
                <a:spcPct val="10500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rgbClr val="3E4C5A"/>
                </a:solidFill>
              </a:rPr>
              <a:t>Deployed to the web to test different scenarios against deployed resources limitations.</a:t>
            </a:r>
          </a:p>
        </p:txBody>
      </p:sp>
      <p:sp>
        <p:nvSpPr>
          <p:cNvPr id="340" name="Label 340"/>
          <p:cNvSpPr txBox="1"/>
          <p:nvPr/>
        </p:nvSpPr>
        <p:spPr>
          <a:xfrm>
            <a:off x="1092200" y="4191000"/>
            <a:ext cx="53086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5A6B7C"/>
                </a:solidFill>
              </a:rPr>
              <a:t>DEFENSE-IN-DEPTH PIPELINE</a:t>
            </a:r>
          </a:p>
        </p:txBody>
      </p:sp>
      <p:sp>
        <p:nvSpPr>
          <p:cNvPr id="341" name="Pill 341"/>
          <p:cNvSpPr/>
          <p:nvPr/>
        </p:nvSpPr>
        <p:spPr>
          <a:xfrm>
            <a:off x="1092200" y="4546600"/>
            <a:ext cx="53086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DEB"/>
            </a:solidFill>
          </a:ln>
        </p:spPr>
        <p:txBody>
          <a:bodyPr wrap="square" lIns="114300" tIns="0" rIns="45720" bIns="0" anchor="ctr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B5FA5"/>
                </a:solidFill>
              </a:rPr>
              <a:t>01  </a:t>
            </a:r>
            <a:r>
              <a:rPr lang="en-US" sz="1400" dirty="0">
                <a:solidFill>
                  <a:srgbClr val="2C3E50"/>
                </a:solidFill>
              </a:rPr>
              <a:t>Detect and log every raw suspicious value</a:t>
            </a:r>
          </a:p>
        </p:txBody>
      </p:sp>
      <p:sp>
        <p:nvSpPr>
          <p:cNvPr id="342" name="Pill 342"/>
          <p:cNvSpPr/>
          <p:nvPr/>
        </p:nvSpPr>
        <p:spPr>
          <a:xfrm>
            <a:off x="1092200" y="4953000"/>
            <a:ext cx="53086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DEB"/>
            </a:solidFill>
          </a:ln>
        </p:spPr>
        <p:txBody>
          <a:bodyPr wrap="square" lIns="114300" tIns="0" rIns="45720" bIns="0" anchor="ctr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B5FA5"/>
                </a:solidFill>
              </a:rPr>
              <a:t>02  </a:t>
            </a:r>
            <a:r>
              <a:rPr lang="en-US" sz="1400" dirty="0">
                <a:solidFill>
                  <a:srgbClr val="2C3E50"/>
                </a:solidFill>
              </a:rPr>
              <a:t>Skip insertion of records with threads</a:t>
            </a:r>
          </a:p>
        </p:txBody>
      </p:sp>
      <p:sp>
        <p:nvSpPr>
          <p:cNvPr id="343" name="Pill 343"/>
          <p:cNvSpPr/>
          <p:nvPr/>
        </p:nvSpPr>
        <p:spPr>
          <a:xfrm>
            <a:off x="1092200" y="5359400"/>
            <a:ext cx="53086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DEB"/>
            </a:solidFill>
          </a:ln>
        </p:spPr>
        <p:txBody>
          <a:bodyPr wrap="square" lIns="114300" tIns="0" rIns="45720" bIns="0" anchor="ctr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B5FA5"/>
                </a:solidFill>
              </a:rPr>
              <a:t>03  </a:t>
            </a:r>
            <a:r>
              <a:rPr lang="en-US" sz="1400" dirty="0">
                <a:solidFill>
                  <a:srgbClr val="2C3E50"/>
                </a:solidFill>
              </a:rPr>
              <a:t>Parameterized queries on every write</a:t>
            </a:r>
          </a:p>
        </p:txBody>
      </p:sp>
      <p:sp>
        <p:nvSpPr>
          <p:cNvPr id="344" name="Pill 344"/>
          <p:cNvSpPr/>
          <p:nvPr/>
        </p:nvSpPr>
        <p:spPr>
          <a:xfrm>
            <a:off x="1092200" y="5765800"/>
            <a:ext cx="53086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DEB"/>
            </a:solidFill>
          </a:ln>
        </p:spPr>
        <p:txBody>
          <a:bodyPr wrap="square" lIns="114300" tIns="0" rIns="45720" bIns="0" anchor="ctr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B5FA5"/>
                </a:solidFill>
              </a:rPr>
              <a:t>04  </a:t>
            </a:r>
            <a:r>
              <a:rPr lang="en-US" sz="1400" dirty="0">
                <a:solidFill>
                  <a:srgbClr val="2C3E50"/>
                </a:solidFill>
              </a:rPr>
              <a:t>React auto-escaping on render</a:t>
            </a:r>
          </a:p>
        </p:txBody>
      </p:sp>
    </p:spTree>
    <p:extLst>
      <p:ext uri="{BB962C8B-B14F-4D97-AF65-F5344CB8AC3E}">
        <p14:creationId xmlns:p14="http://schemas.microsoft.com/office/powerpoint/2010/main" val="409328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DEDD-113C-E031-66B4-CCB2A2F6B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31800"/>
            <a:ext cx="10160000" cy="5588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16202B"/>
                </a:solidFill>
              </a:rPr>
              <a:t>CI/CD, AWS &amp; Infrastructure as Code</a:t>
            </a:r>
          </a:p>
        </p:txBody>
      </p:sp>
      <p:sp>
        <p:nvSpPr>
          <p:cNvPr id="400" name="Shape 400"/>
          <p:cNvSpPr/>
          <p:nvPr/>
        </p:nvSpPr>
        <p:spPr>
          <a:xfrm>
            <a:off x="762000" y="1143000"/>
            <a:ext cx="1143000" cy="508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401"/>
          <p:cNvSpPr/>
          <p:nvPr/>
        </p:nvSpPr>
        <p:spPr>
          <a:xfrm>
            <a:off x="762000" y="1397000"/>
            <a:ext cx="10668000" cy="711200"/>
          </a:xfrm>
          <a:prstGeom prst="rect">
            <a:avLst/>
          </a:prstGeom>
          <a:solidFill>
            <a:srgbClr val="EDF3FA"/>
          </a:solidFill>
          <a:ln w="12700">
            <a:solidFill>
              <a:srgbClr val="CFDD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pe 402"/>
          <p:cNvSpPr/>
          <p:nvPr/>
        </p:nvSpPr>
        <p:spPr>
          <a:xfrm>
            <a:off x="762000" y="1397000"/>
            <a:ext cx="63500" cy="7112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3" name="Text 403"/>
          <p:cNvSpPr txBox="1"/>
          <p:nvPr/>
        </p:nvSpPr>
        <p:spPr>
          <a:xfrm>
            <a:off x="1092200" y="1397000"/>
            <a:ext cx="100330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B5FA5"/>
                </a:solidFill>
              </a:rPr>
              <a:t>Not requested, but demonstrated — </a:t>
            </a:r>
            <a:r>
              <a:rPr lang="en-US" sz="1500" dirty="0">
                <a:solidFill>
                  <a:srgbClr val="2C3E50"/>
                </a:solidFill>
              </a:rPr>
              <a:t>the challenge didn’t ask for cloud infrastructure; this proves end-to-end senior delivery of enterprise-grade applications.</a:t>
            </a:r>
          </a:p>
        </p:txBody>
      </p:sp>
      <p:sp>
        <p:nvSpPr>
          <p:cNvPr id="404" name="Shape 404"/>
          <p:cNvSpPr/>
          <p:nvPr/>
        </p:nvSpPr>
        <p:spPr>
          <a:xfrm>
            <a:off x="762000" y="2311400"/>
            <a:ext cx="2565400" cy="304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5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 405"/>
          <p:cNvSpPr/>
          <p:nvPr/>
        </p:nvSpPr>
        <p:spPr>
          <a:xfrm>
            <a:off x="762000" y="2311400"/>
            <a:ext cx="2565400" cy="635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6" name="Text 406"/>
          <p:cNvSpPr txBox="1"/>
          <p:nvPr/>
        </p:nvSpPr>
        <p:spPr>
          <a:xfrm>
            <a:off x="864066" y="2590800"/>
            <a:ext cx="2361734" cy="248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202B"/>
                </a:solidFill>
              </a:rPr>
              <a:t>AWS</a:t>
            </a: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6202B"/>
                </a:solidFill>
              </a:rPr>
              <a:t>Infrastructure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RABC (partial)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EC2 instance hosting the application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RDS unnecessary for this demo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ECR for Docker image storage</a:t>
            </a:r>
          </a:p>
        </p:txBody>
      </p:sp>
      <p:sp>
        <p:nvSpPr>
          <p:cNvPr id="407" name="Shape 407"/>
          <p:cNvSpPr/>
          <p:nvPr/>
        </p:nvSpPr>
        <p:spPr>
          <a:xfrm>
            <a:off x="3479800" y="2311400"/>
            <a:ext cx="2565400" cy="304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5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408"/>
          <p:cNvSpPr/>
          <p:nvPr/>
        </p:nvSpPr>
        <p:spPr>
          <a:xfrm>
            <a:off x="3479800" y="2311400"/>
            <a:ext cx="2565400" cy="63500"/>
          </a:xfrm>
          <a:prstGeom prst="rect">
            <a:avLst/>
          </a:prstGeom>
          <a:solidFill>
            <a:srgbClr val="108A7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9" name="Text 409"/>
          <p:cNvSpPr txBox="1"/>
          <p:nvPr/>
        </p:nvSpPr>
        <p:spPr>
          <a:xfrm>
            <a:off x="3581399" y="2590800"/>
            <a:ext cx="2332839" cy="248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202B"/>
                </a:solidFill>
              </a:rPr>
              <a:t>Infrastructure</a:t>
            </a: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6202B"/>
                </a:solidFill>
              </a:rPr>
              <a:t>as Code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All AWS resources defined in Terraform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Version-controlled alongside the application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terraform plan and apply on every merge to main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Fully reproducible environment</a:t>
            </a:r>
          </a:p>
        </p:txBody>
      </p:sp>
      <p:sp>
        <p:nvSpPr>
          <p:cNvPr id="410" name="Shape 410"/>
          <p:cNvSpPr/>
          <p:nvPr/>
        </p:nvSpPr>
        <p:spPr>
          <a:xfrm>
            <a:off x="6197600" y="2311400"/>
            <a:ext cx="2565400" cy="304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5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1" name="Shape 411"/>
          <p:cNvSpPr/>
          <p:nvPr/>
        </p:nvSpPr>
        <p:spPr>
          <a:xfrm>
            <a:off x="6197600" y="2311400"/>
            <a:ext cx="2565400" cy="63500"/>
          </a:xfrm>
          <a:prstGeom prst="rect">
            <a:avLst/>
          </a:prstGeom>
          <a:solidFill>
            <a:srgbClr val="3D7E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2" name="Text 412"/>
          <p:cNvSpPr txBox="1"/>
          <p:nvPr/>
        </p:nvSpPr>
        <p:spPr>
          <a:xfrm>
            <a:off x="6346272" y="2590800"/>
            <a:ext cx="2315128" cy="248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202B"/>
                </a:solidFill>
              </a:rPr>
              <a:t>CI/CD Pipeline</a:t>
            </a: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6202B"/>
                </a:solidFill>
              </a:rPr>
              <a:t>(Azure DevOps)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Automated builds on every push to main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Backend and frontend tests with coverage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Docker image builds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Zero-touch deployment to EC2 via SSM</a:t>
            </a:r>
          </a:p>
        </p:txBody>
      </p:sp>
      <p:sp>
        <p:nvSpPr>
          <p:cNvPr id="413" name="Shape 413"/>
          <p:cNvSpPr/>
          <p:nvPr/>
        </p:nvSpPr>
        <p:spPr>
          <a:xfrm>
            <a:off x="8915400" y="2311400"/>
            <a:ext cx="2565400" cy="304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FE5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414"/>
          <p:cNvSpPr/>
          <p:nvPr/>
        </p:nvSpPr>
        <p:spPr>
          <a:xfrm>
            <a:off x="8915400" y="2311400"/>
            <a:ext cx="2565400" cy="635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5" name="Text 415"/>
          <p:cNvSpPr txBox="1"/>
          <p:nvPr/>
        </p:nvSpPr>
        <p:spPr>
          <a:xfrm>
            <a:off x="9060110" y="2590800"/>
            <a:ext cx="2267824" cy="248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202B"/>
                </a:solidFill>
              </a:rPr>
              <a:t>Quality</a:t>
            </a:r>
          </a:p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6202B"/>
                </a:solidFill>
              </a:rPr>
              <a:t>Gates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Test coverage checked on every commit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Terraform validation on every commit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QA built into the development workflow</a:t>
            </a:r>
          </a:p>
          <a:p>
            <a:pPr marL="114300" indent="-11430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200" dirty="0">
                <a:solidFill>
                  <a:srgbClr val="33414E"/>
                </a:solidFill>
              </a:rPr>
              <a:t>No manual steps between commit and deploy</a:t>
            </a:r>
          </a:p>
        </p:txBody>
      </p:sp>
      <p:sp>
        <p:nvSpPr>
          <p:cNvPr id="416" name="Text 416"/>
          <p:cNvSpPr txBox="1"/>
          <p:nvPr/>
        </p:nvSpPr>
        <p:spPr>
          <a:xfrm>
            <a:off x="762000" y="571500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500" i="1" dirty="0">
                <a:solidFill>
                  <a:srgbClr val="46596B"/>
                </a:solidFill>
              </a:rPr>
              <a:t>The job post description described out AWS, CI/CD, and infrastructure — this is the reason I added it to demonstrate I have practical experience delivering production-ready solutions across the full stack.</a:t>
            </a:r>
          </a:p>
        </p:txBody>
      </p:sp>
    </p:spTree>
    <p:extLst>
      <p:ext uri="{BB962C8B-B14F-4D97-AF65-F5344CB8AC3E}">
        <p14:creationId xmlns:p14="http://schemas.microsoft.com/office/powerpoint/2010/main" val="2303612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7623979133]">
  <a:themeElements>
    <a:clrScheme name="Office">
      <a:dk1>
        <a:srgbClr val="16202B"/>
      </a:dk1>
      <a:lt1>
        <a:srgbClr val="FFFFFF"/>
      </a:lt1>
      <a:dk2>
        <a:srgbClr val="2C3E50"/>
      </a:dk2>
      <a:lt2>
        <a:srgbClr val="F1F4F8"/>
      </a:lt2>
      <a:accent1>
        <a:srgbClr val="0B5FA5"/>
      </a:accent1>
      <a:accent2>
        <a:srgbClr val="108A7E"/>
      </a:accent2>
      <a:accent3>
        <a:srgbClr val="B7791F"/>
      </a:accent3>
      <a:accent4>
        <a:srgbClr val="5A6B7C"/>
      </a:accent4>
      <a:accent5>
        <a:srgbClr val="3D7EB8"/>
      </a:accent5>
      <a:accent6>
        <a:srgbClr val="8A4B9C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51FF58A-C67E-49C7-87A1-C08D291B54A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2b86f01e-b3d9-4d49-906d-929e799c2c1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511</Words>
  <Application>Microsoft Office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Montserrat</vt:lpstr>
      <vt:lpstr>Open Sans</vt:lpstr>
      <vt:lpstr>Office Theme [1787623979133]</vt:lpstr>
      <vt:lpstr>E-Commerce Code Challenge Executive Summary</vt:lpstr>
      <vt:lpstr>Architectural Decisions</vt:lpstr>
      <vt:lpstr>Security &amp; Threat Analysis</vt:lpstr>
      <vt:lpstr>CI/CD, AWS &amp; Infrastructure as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Perez</dc:creator>
  <cp:lastModifiedBy>Adrian Perez</cp:lastModifiedBy>
  <cp:revision>3</cp:revision>
  <dcterms:created xsi:type="dcterms:W3CDTF">2026-08-25T02:12:59Z</dcterms:created>
  <dcterms:modified xsi:type="dcterms:W3CDTF">2026-08-25T14:13:46Z</dcterms:modified>
</cp:coreProperties>
</file>